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62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6550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respected faculty and evaluators. Today I am presenting StudyBuddy—a functional, intermediate-level intelligent web application that combines local Generative AI, Retrieval-Augmented Generation, and Scikit-Learn machine learning pipelines to create an active, private study assistant for college students.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identified three core pain points in university education: static lecture slides causing information overload, cloud AI tools hallucinating answers without citations while leaking private student data, and a lack of early-warning systems to help students detect learning deficiencies before examination day.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StudyBuddy's architecture rests on four pillars: a local AI tutor for conceptual explanations, a semantic RAG pipeline that grounds answers directly in uploaded PDFs, an automated quiz generator for active recall, and an ML model that provides early grade forecasting based on empirical educational data.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system architecture. We followed modern full-stack engineering standards: a clean RESTful Flask backend, SQLAlchemy ORM for data integrity, local AI inference through Ollama, and responsive Chart.js visual telemetry on the frontend.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1 guarantees student data privacy with cryptographic password hashing and database-enforced user isolation. Module 2 provides an academic tutor chatbot that maintains multi-turn conversation memory and breaks down complex questions step-by-step.</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3 represents our semantic RAG implementation. Uploaded PDFs are parsed with PyMuPDF, chunked with sliding windows, and embedded via Sentence Transformers. When a student asks a question, the model cites exact page numbers and strictly refuses to hallucinate facts outside the provided document.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4 implements active recall testing. The quiz generator creates validated 4-choice questions. To uphold academic integrity, answers are stored on the server and hidden during the exam. After submission, answers are graded instantly with step-by-step explanations.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Module 5, we trained an early grade predictor on the UCI Student Performance dataset. To avoid data leakage, we strictly excluded intermediate term marks G1 and G2. Random Forest outperformed Linear Regression with an RMSE of 4.28. The top predictive features were absences at 47% and past failures at 40%.</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6 maps diagnostic quiz scores to targeted study interventions, identifying weak topics and linking them to relevant lecture slides. Module 7 visualizes this telemetry using interactive Chart.js bar and line graphs, giving students an intuitive overview of their academic standing.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StudyBuddy is completely built, validated with 14 automated unit tests, and ready for deployment. It demonstrates the power of combining local LLMs, semantic RAG, and classical machine learning into a unified, privacy-preserving college study assistant. Thank you, and I look forward to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645920"/>
            <a:ext cx="10362895" cy="1969770"/>
          </a:xfrm>
          <a:prstGeom prst="rect">
            <a:avLst/>
          </a:prstGeom>
          <a:noFill/>
        </p:spPr>
        <p:txBody>
          <a:bodyPr wrap="square">
            <a:spAutoFit/>
          </a:bodyPr>
          <a:lstStyle/>
          <a:p>
            <a:pPr>
              <a:defRPr sz="5200" b="1">
                <a:solidFill>
                  <a:srgbClr val="0D6EFD"/>
                </a:solidFill>
              </a:defRPr>
            </a:pPr>
            <a:r>
              <a:rPr dirty="0" err="1"/>
              <a:t>StudyBuddy</a:t>
            </a:r>
            <a:endParaRPr dirty="0"/>
          </a:p>
          <a:p>
            <a:pPr>
              <a:spcAft>
                <a:spcPts val="1200"/>
              </a:spcAft>
              <a:defRPr sz="2800" b="1">
                <a:solidFill>
                  <a:srgbClr val="0F172A"/>
                </a:solidFill>
              </a:defRPr>
            </a:pPr>
            <a:r>
              <a:rPr dirty="0"/>
              <a:t>Student AI Assistant (AI + ML)</a:t>
            </a:r>
          </a:p>
          <a:p>
            <a:pPr>
              <a:spcAft>
                <a:spcPts val="2400"/>
              </a:spcAft>
              <a:defRPr sz="1600">
                <a:solidFill>
                  <a:srgbClr val="64748B"/>
                </a:solidFill>
              </a:defRPr>
            </a:pPr>
            <a:r>
              <a:rPr dirty="0"/>
              <a:t>An Intelligent College Study Companion Combining Local Generative AI (RAG)</a:t>
            </a:r>
            <a:br>
              <a:rPr dirty="0"/>
            </a:br>
            <a:r>
              <a:rPr dirty="0"/>
              <a:t>&amp; Supervised Machine Learning </a:t>
            </a:r>
            <a:r>
              <a:t>Performance Forecasting</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7315200" cy="320040"/>
          </a:xfrm>
          <a:prstGeom prst="rect">
            <a:avLst/>
          </a:prstGeom>
          <a:noFill/>
        </p:spPr>
        <p:txBody>
          <a:bodyPr wrap="square">
            <a:spAutoFit/>
          </a:bodyPr>
          <a:lstStyle/>
          <a:p>
            <a:pPr>
              <a:defRPr sz="1100" b="1">
                <a:solidFill>
                  <a:srgbClr val="0D6EFD"/>
                </a:solidFill>
              </a:defRPr>
            </a:pPr>
            <a:r>
              <a:t>MOTIVATION</a:t>
            </a:r>
          </a:p>
        </p:txBody>
      </p:sp>
      <p:sp>
        <p:nvSpPr>
          <p:cNvPr id="3" name="TextBox 2"/>
          <p:cNvSpPr txBox="1"/>
          <p:nvPr/>
        </p:nvSpPr>
        <p:spPr>
          <a:xfrm>
            <a:off x="731520" y="685800"/>
            <a:ext cx="10698480" cy="731520"/>
          </a:xfrm>
          <a:prstGeom prst="rect">
            <a:avLst/>
          </a:prstGeom>
          <a:noFill/>
        </p:spPr>
        <p:txBody>
          <a:bodyPr wrap="square">
            <a:spAutoFit/>
          </a:bodyPr>
          <a:lstStyle/>
          <a:p>
            <a:pPr>
              <a:defRPr sz="2400" b="1">
                <a:solidFill>
                  <a:srgbClr val="0F172A"/>
                </a:solidFill>
              </a:defRPr>
            </a:pPr>
            <a:r>
              <a:t>The Academic Challenge &amp; Problem Statement</a:t>
            </a:r>
          </a:p>
        </p:txBody>
      </p:sp>
      <p:sp>
        <p:nvSpPr>
          <p:cNvPr id="4" name="Rounded Rectangle 3"/>
          <p:cNvSpPr/>
          <p:nvPr/>
        </p:nvSpPr>
        <p:spPr>
          <a:xfrm>
            <a:off x="731520" y="1645920"/>
            <a:ext cx="32918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2926080" cy="4023360"/>
          </a:xfrm>
          <a:prstGeom prst="rect">
            <a:avLst/>
          </a:prstGeom>
          <a:noFill/>
        </p:spPr>
        <p:txBody>
          <a:bodyPr wrap="square">
            <a:spAutoFit/>
          </a:bodyPr>
          <a:lstStyle/>
          <a:p>
            <a:pPr>
              <a:spcAft>
                <a:spcPts val="1000"/>
              </a:spcAft>
              <a:defRPr sz="1600" b="1">
                <a:solidFill>
                  <a:srgbClr val="0F172A"/>
                </a:solidFill>
              </a:defRPr>
            </a:pPr>
            <a:r>
              <a:t>Information Overload</a:t>
            </a:r>
          </a:p>
          <a:p>
            <a:pPr>
              <a:spcAft>
                <a:spcPts val="600"/>
              </a:spcAft>
              <a:defRPr sz="1300">
                <a:solidFill>
                  <a:srgbClr val="64748B"/>
                </a:solidFill>
              </a:defRPr>
            </a:pPr>
            <a:r>
              <a:t>• Students manage hundreds of pages of unindexed lecture slides and textbook PDFs.</a:t>
            </a:r>
          </a:p>
          <a:p>
            <a:pPr>
              <a:spcAft>
                <a:spcPts val="600"/>
              </a:spcAft>
              <a:defRPr sz="1300">
                <a:solidFill>
                  <a:srgbClr val="64748B"/>
                </a:solidFill>
              </a:defRPr>
            </a:pPr>
            <a:r>
              <a:t>• Manual keyword search fails on complex academic concepts and equations.</a:t>
            </a:r>
          </a:p>
          <a:p>
            <a:pPr>
              <a:spcAft>
                <a:spcPts val="600"/>
              </a:spcAft>
              <a:defRPr sz="1300">
                <a:solidFill>
                  <a:srgbClr val="64748B"/>
                </a:solidFill>
              </a:defRPr>
            </a:pPr>
            <a:r>
              <a:t>• Consuming large syllabi without structured summaries leads to study fatigue.</a:t>
            </a:r>
          </a:p>
        </p:txBody>
      </p:sp>
      <p:sp>
        <p:nvSpPr>
          <p:cNvPr id="6" name="Rounded Rectangle 5"/>
          <p:cNvSpPr/>
          <p:nvPr/>
        </p:nvSpPr>
        <p:spPr>
          <a:xfrm>
            <a:off x="4389120" y="1645920"/>
            <a:ext cx="32918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0" y="1828800"/>
            <a:ext cx="2926080" cy="4023360"/>
          </a:xfrm>
          <a:prstGeom prst="rect">
            <a:avLst/>
          </a:prstGeom>
          <a:noFill/>
        </p:spPr>
        <p:txBody>
          <a:bodyPr wrap="square">
            <a:spAutoFit/>
          </a:bodyPr>
          <a:lstStyle/>
          <a:p>
            <a:pPr>
              <a:spcAft>
                <a:spcPts val="1000"/>
              </a:spcAft>
              <a:defRPr sz="1600" b="1">
                <a:solidFill>
                  <a:srgbClr val="0F172A"/>
                </a:solidFill>
              </a:defRPr>
            </a:pPr>
            <a:r>
              <a:t>Cloud AI Hallucinations &amp; Privacy</a:t>
            </a:r>
          </a:p>
          <a:p>
            <a:pPr>
              <a:spcAft>
                <a:spcPts val="600"/>
              </a:spcAft>
              <a:defRPr sz="1300">
                <a:solidFill>
                  <a:srgbClr val="64748B"/>
                </a:solidFill>
              </a:defRPr>
            </a:pPr>
            <a:r>
              <a:t>• Commercial cloud chatbots hallucinate facts without grounding or citations.</a:t>
            </a:r>
          </a:p>
          <a:p>
            <a:pPr>
              <a:spcAft>
                <a:spcPts val="600"/>
              </a:spcAft>
              <a:defRPr sz="1300">
                <a:solidFill>
                  <a:srgbClr val="64748B"/>
                </a:solidFill>
              </a:defRPr>
            </a:pPr>
            <a:r>
              <a:t>• Uploading confidential college assignments leaks student data to external servers.</a:t>
            </a:r>
          </a:p>
          <a:p>
            <a:pPr>
              <a:spcAft>
                <a:spcPts val="600"/>
              </a:spcAft>
              <a:defRPr sz="1300">
                <a:solidFill>
                  <a:srgbClr val="64748B"/>
                </a:solidFill>
              </a:defRPr>
            </a:pPr>
            <a:r>
              <a:t>• Cloud LLM API subscriptions are expensive and lack offline reliability.</a:t>
            </a:r>
          </a:p>
        </p:txBody>
      </p:sp>
      <p:sp>
        <p:nvSpPr>
          <p:cNvPr id="8" name="Rounded Rectangle 7"/>
          <p:cNvSpPr/>
          <p:nvPr/>
        </p:nvSpPr>
        <p:spPr>
          <a:xfrm>
            <a:off x="8046720" y="1645920"/>
            <a:ext cx="32918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0" y="1828800"/>
            <a:ext cx="2926080" cy="4023360"/>
          </a:xfrm>
          <a:prstGeom prst="rect">
            <a:avLst/>
          </a:prstGeom>
          <a:noFill/>
        </p:spPr>
        <p:txBody>
          <a:bodyPr wrap="square">
            <a:spAutoFit/>
          </a:bodyPr>
          <a:lstStyle/>
          <a:p>
            <a:pPr>
              <a:spcAft>
                <a:spcPts val="1000"/>
              </a:spcAft>
              <a:defRPr sz="1600" b="1">
                <a:solidFill>
                  <a:srgbClr val="0F172A"/>
                </a:solidFill>
              </a:defRPr>
            </a:pPr>
            <a:r>
              <a:t>Late Academic Setbacks</a:t>
            </a:r>
          </a:p>
          <a:p>
            <a:pPr>
              <a:spcAft>
                <a:spcPts val="600"/>
              </a:spcAft>
              <a:defRPr sz="1300">
                <a:solidFill>
                  <a:srgbClr val="64748B"/>
                </a:solidFill>
              </a:defRPr>
            </a:pPr>
            <a:r>
              <a:t>• Students discover conceptual gaps only after midterm or semester exam failures.</a:t>
            </a:r>
          </a:p>
          <a:p>
            <a:pPr>
              <a:spcAft>
                <a:spcPts val="600"/>
              </a:spcAft>
              <a:defRPr sz="1300">
                <a:solidFill>
                  <a:srgbClr val="64748B"/>
                </a:solidFill>
              </a:defRPr>
            </a:pPr>
            <a:r>
              <a:t>• Lack of early performance forecasting based on study time and attendance.</a:t>
            </a:r>
          </a:p>
          <a:p>
            <a:pPr>
              <a:spcAft>
                <a:spcPts val="600"/>
              </a:spcAft>
              <a:defRPr sz="1300">
                <a:solidFill>
                  <a:srgbClr val="64748B"/>
                </a:solidFill>
              </a:defRPr>
            </a:pPr>
            <a:r>
              <a:t>• Absence of formative, automated diagnostic testing before finals.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7315200" cy="320040"/>
          </a:xfrm>
          <a:prstGeom prst="rect">
            <a:avLst/>
          </a:prstGeom>
          <a:noFill/>
        </p:spPr>
        <p:txBody>
          <a:bodyPr wrap="square">
            <a:spAutoFit/>
          </a:bodyPr>
          <a:lstStyle/>
          <a:p>
            <a:pPr>
              <a:defRPr sz="1100" b="1">
                <a:solidFill>
                  <a:srgbClr val="0D6EFD"/>
                </a:solidFill>
              </a:defRPr>
            </a:pPr>
            <a:r>
              <a:t>OBJECTIVES</a:t>
            </a:r>
          </a:p>
        </p:txBody>
      </p:sp>
      <p:sp>
        <p:nvSpPr>
          <p:cNvPr id="3" name="TextBox 2"/>
          <p:cNvSpPr txBox="1"/>
          <p:nvPr/>
        </p:nvSpPr>
        <p:spPr>
          <a:xfrm>
            <a:off x="731520" y="685800"/>
            <a:ext cx="10698480" cy="731520"/>
          </a:xfrm>
          <a:prstGeom prst="rect">
            <a:avLst/>
          </a:prstGeom>
          <a:noFill/>
        </p:spPr>
        <p:txBody>
          <a:bodyPr wrap="square">
            <a:spAutoFit/>
          </a:bodyPr>
          <a:lstStyle/>
          <a:p>
            <a:pPr>
              <a:defRPr sz="2400" b="1">
                <a:solidFill>
                  <a:srgbClr val="0F172A"/>
                </a:solidFill>
              </a:defRPr>
            </a:pPr>
            <a:r>
              <a:t>Project Objectives &amp; Core Capabilities</a:t>
            </a:r>
          </a:p>
        </p:txBody>
      </p:sp>
      <p:sp>
        <p:nvSpPr>
          <p:cNvPr id="4" name="Rounded Rectangle 3"/>
          <p:cNvSpPr/>
          <p:nvPr/>
        </p:nvSpPr>
        <p:spPr>
          <a:xfrm>
            <a:off x="731520" y="1645920"/>
            <a:ext cx="5120640" cy="2103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4754880" cy="1737360"/>
          </a:xfrm>
          <a:prstGeom prst="rect">
            <a:avLst/>
          </a:prstGeom>
          <a:noFill/>
        </p:spPr>
        <p:txBody>
          <a:bodyPr wrap="square">
            <a:spAutoFit/>
          </a:bodyPr>
          <a:lstStyle/>
          <a:p>
            <a:pPr>
              <a:spcAft>
                <a:spcPts val="1000"/>
              </a:spcAft>
              <a:defRPr sz="1600" b="1">
                <a:solidFill>
                  <a:srgbClr val="0F172A"/>
                </a:solidFill>
              </a:defRPr>
            </a:pPr>
            <a:r>
              <a:t>1. Privacy-First Local AI Tutor</a:t>
            </a:r>
          </a:p>
          <a:p>
            <a:pPr>
              <a:spcAft>
                <a:spcPts val="600"/>
              </a:spcAft>
              <a:defRPr sz="1300">
                <a:solidFill>
                  <a:srgbClr val="64748B"/>
                </a:solidFill>
              </a:defRPr>
            </a:pPr>
            <a:r>
              <a:t>• Powered by locally hosted Ollama (Llama 3.2 / Qwen 2.5).</a:t>
            </a:r>
          </a:p>
          <a:p>
            <a:pPr>
              <a:spcAft>
                <a:spcPts val="600"/>
              </a:spcAft>
              <a:defRPr sz="1300">
                <a:solidFill>
                  <a:srgbClr val="64748B"/>
                </a:solidFill>
              </a:defRPr>
            </a:pPr>
            <a:r>
              <a:t>• Provides step-by-step pedagogical explanations without cloud fees.</a:t>
            </a:r>
          </a:p>
        </p:txBody>
      </p:sp>
      <p:sp>
        <p:nvSpPr>
          <p:cNvPr id="6" name="Rounded Rectangle 5"/>
          <p:cNvSpPr/>
          <p:nvPr/>
        </p:nvSpPr>
        <p:spPr>
          <a:xfrm>
            <a:off x="6217920" y="1645920"/>
            <a:ext cx="5120640" cy="2103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0" y="1828800"/>
            <a:ext cx="4754880" cy="1737360"/>
          </a:xfrm>
          <a:prstGeom prst="rect">
            <a:avLst/>
          </a:prstGeom>
          <a:noFill/>
        </p:spPr>
        <p:txBody>
          <a:bodyPr wrap="square">
            <a:spAutoFit/>
          </a:bodyPr>
          <a:lstStyle/>
          <a:p>
            <a:pPr>
              <a:spcAft>
                <a:spcPts val="1000"/>
              </a:spcAft>
              <a:defRPr sz="1600" b="1">
                <a:solidFill>
                  <a:srgbClr val="0F172A"/>
                </a:solidFill>
              </a:defRPr>
            </a:pPr>
            <a:r>
              <a:t>2. Semantic RAG with Exact Citations</a:t>
            </a:r>
          </a:p>
          <a:p>
            <a:pPr>
              <a:spcAft>
                <a:spcPts val="600"/>
              </a:spcAft>
              <a:defRPr sz="1300">
                <a:solidFill>
                  <a:srgbClr val="64748B"/>
                </a:solidFill>
              </a:defRPr>
            </a:pPr>
            <a:r>
              <a:t>• PyMuPDF per-page extraction and all-MiniLM-L6-v2 vector embeddings.</a:t>
            </a:r>
          </a:p>
          <a:p>
            <a:pPr>
              <a:spcAft>
                <a:spcPts val="600"/>
              </a:spcAft>
              <a:defRPr sz="1300">
                <a:solidFill>
                  <a:srgbClr val="64748B"/>
                </a:solidFill>
              </a:defRPr>
            </a:pPr>
            <a:r>
              <a:t>• Cites exact page numbers with strict anti-hallucination guardrails.</a:t>
            </a:r>
          </a:p>
        </p:txBody>
      </p:sp>
      <p:sp>
        <p:nvSpPr>
          <p:cNvPr id="8" name="Rounded Rectangle 7"/>
          <p:cNvSpPr/>
          <p:nvPr/>
        </p:nvSpPr>
        <p:spPr>
          <a:xfrm>
            <a:off x="731520" y="4023360"/>
            <a:ext cx="5120640" cy="2103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4206240"/>
            <a:ext cx="4754880" cy="1737360"/>
          </a:xfrm>
          <a:prstGeom prst="rect">
            <a:avLst/>
          </a:prstGeom>
          <a:noFill/>
        </p:spPr>
        <p:txBody>
          <a:bodyPr wrap="square">
            <a:spAutoFit/>
          </a:bodyPr>
          <a:lstStyle/>
          <a:p>
            <a:pPr>
              <a:spcAft>
                <a:spcPts val="1000"/>
              </a:spcAft>
              <a:defRPr sz="1600" b="1">
                <a:solidFill>
                  <a:srgbClr val="0F172A"/>
                </a:solidFill>
              </a:defRPr>
            </a:pPr>
            <a:r>
              <a:t>3. Active Recall AI Quiz Hub</a:t>
            </a:r>
          </a:p>
          <a:p>
            <a:pPr>
              <a:spcAft>
                <a:spcPts val="600"/>
              </a:spcAft>
              <a:defRPr sz="1300">
                <a:solidFill>
                  <a:srgbClr val="64748B"/>
                </a:solidFill>
              </a:defRPr>
            </a:pPr>
            <a:r>
              <a:t>• Synthesizes 4-choice MCQs with server-separated answer keys.</a:t>
            </a:r>
          </a:p>
          <a:p>
            <a:pPr>
              <a:spcAft>
                <a:spcPts val="600"/>
              </a:spcAft>
              <a:defRPr sz="1300">
                <a:solidFill>
                  <a:srgbClr val="64748B"/>
                </a:solidFill>
              </a:defRPr>
            </a:pPr>
            <a:r>
              <a:t>• Instant scoring, mistaken option explanations, and retry capability.</a:t>
            </a:r>
          </a:p>
        </p:txBody>
      </p:sp>
      <p:sp>
        <p:nvSpPr>
          <p:cNvPr id="10" name="Rounded Rectangle 9"/>
          <p:cNvSpPr/>
          <p:nvPr/>
        </p:nvSpPr>
        <p:spPr>
          <a:xfrm>
            <a:off x="6217920" y="4023360"/>
            <a:ext cx="5120640" cy="2103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4206240"/>
            <a:ext cx="4754880" cy="1737360"/>
          </a:xfrm>
          <a:prstGeom prst="rect">
            <a:avLst/>
          </a:prstGeom>
          <a:noFill/>
        </p:spPr>
        <p:txBody>
          <a:bodyPr wrap="square">
            <a:spAutoFit/>
          </a:bodyPr>
          <a:lstStyle/>
          <a:p>
            <a:pPr>
              <a:spcAft>
                <a:spcPts val="1000"/>
              </a:spcAft>
              <a:defRPr sz="1600" b="1">
                <a:solidFill>
                  <a:srgbClr val="0F172A"/>
                </a:solidFill>
              </a:defRPr>
            </a:pPr>
            <a:r>
              <a:t>4. ML Grade Prediction &amp; Analytics</a:t>
            </a:r>
          </a:p>
          <a:p>
            <a:pPr>
              <a:spcAft>
                <a:spcPts val="600"/>
              </a:spcAft>
              <a:defRPr sz="1300">
                <a:solidFill>
                  <a:srgbClr val="64748B"/>
                </a:solidFill>
              </a:defRPr>
            </a:pPr>
            <a:r>
              <a:t>• Random Forest Regressor trained on the UCI Student benchmark.</a:t>
            </a:r>
          </a:p>
          <a:p>
            <a:pPr>
              <a:spcAft>
                <a:spcPts val="600"/>
              </a:spcAft>
              <a:defRPr sz="1300">
                <a:solidFill>
                  <a:srgbClr val="64748B"/>
                </a:solidFill>
              </a:defRPr>
            </a:pPr>
            <a:r>
              <a:t>• Early forecast of final marks (G3) with Chart.js mastery telemetry.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7315200" cy="320040"/>
          </a:xfrm>
          <a:prstGeom prst="rect">
            <a:avLst/>
          </a:prstGeom>
          <a:noFill/>
        </p:spPr>
        <p:txBody>
          <a:bodyPr wrap="square">
            <a:spAutoFit/>
          </a:bodyPr>
          <a:lstStyle/>
          <a:p>
            <a:pPr>
              <a:defRPr sz="1100" b="1">
                <a:solidFill>
                  <a:srgbClr val="0D6EFD"/>
                </a:solidFill>
              </a:defRPr>
            </a:pPr>
            <a:r>
              <a:t>ARCHITECTURE</a:t>
            </a:r>
          </a:p>
        </p:txBody>
      </p:sp>
      <p:sp>
        <p:nvSpPr>
          <p:cNvPr id="3" name="TextBox 2"/>
          <p:cNvSpPr txBox="1"/>
          <p:nvPr/>
        </p:nvSpPr>
        <p:spPr>
          <a:xfrm>
            <a:off x="731520" y="685800"/>
            <a:ext cx="10698480" cy="731520"/>
          </a:xfrm>
          <a:prstGeom prst="rect">
            <a:avLst/>
          </a:prstGeom>
          <a:noFill/>
        </p:spPr>
        <p:txBody>
          <a:bodyPr wrap="square">
            <a:spAutoFit/>
          </a:bodyPr>
          <a:lstStyle/>
          <a:p>
            <a:pPr>
              <a:defRPr sz="2400" b="1">
                <a:solidFill>
                  <a:srgbClr val="0F172A"/>
                </a:solidFill>
              </a:defRPr>
            </a:pPr>
            <a:r>
              <a:t>System Architecture &amp; Technology Stack</a:t>
            </a:r>
          </a:p>
        </p:txBody>
      </p:sp>
      <p:sp>
        <p:nvSpPr>
          <p:cNvPr id="4" name="Rounded Rectangle 3"/>
          <p:cNvSpPr/>
          <p:nvPr/>
        </p:nvSpPr>
        <p:spPr>
          <a:xfrm>
            <a:off x="731520" y="1645920"/>
            <a:ext cx="32918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2926080" cy="4023360"/>
          </a:xfrm>
          <a:prstGeom prst="rect">
            <a:avLst/>
          </a:prstGeom>
          <a:noFill/>
        </p:spPr>
        <p:txBody>
          <a:bodyPr wrap="square">
            <a:spAutoFit/>
          </a:bodyPr>
          <a:lstStyle/>
          <a:p>
            <a:pPr>
              <a:spcAft>
                <a:spcPts val="1000"/>
              </a:spcAft>
              <a:defRPr sz="1600" b="1">
                <a:solidFill>
                  <a:srgbClr val="0F172A"/>
                </a:solidFill>
              </a:defRPr>
            </a:pPr>
            <a:r>
              <a:t>Presentation Layer</a:t>
            </a:r>
          </a:p>
          <a:p>
            <a:pPr>
              <a:spcAft>
                <a:spcPts val="600"/>
              </a:spcAft>
              <a:defRPr sz="1300">
                <a:solidFill>
                  <a:srgbClr val="64748B"/>
                </a:solidFill>
              </a:defRPr>
            </a:pPr>
            <a:r>
              <a:t>• HTML5, CSS3, JavaScript (ES6+)</a:t>
            </a:r>
          </a:p>
          <a:p>
            <a:pPr>
              <a:spcAft>
                <a:spcPts val="600"/>
              </a:spcAft>
              <a:defRPr sz="1300">
                <a:solidFill>
                  <a:srgbClr val="64748B"/>
                </a:solidFill>
              </a:defRPr>
            </a:pPr>
            <a:r>
              <a:t>• Responsive Bootstrap 5.3 UI framework</a:t>
            </a:r>
          </a:p>
          <a:p>
            <a:pPr>
              <a:spcAft>
                <a:spcPts val="600"/>
              </a:spcAft>
              <a:defRPr sz="1300">
                <a:solidFill>
                  <a:srgbClr val="64748B"/>
                </a:solidFill>
              </a:defRPr>
            </a:pPr>
            <a:r>
              <a:t>• Chart.js 4.4 for dynamic data charts</a:t>
            </a:r>
          </a:p>
          <a:p>
            <a:pPr>
              <a:spcAft>
                <a:spcPts val="600"/>
              </a:spcAft>
              <a:defRPr sz="1300">
                <a:solidFill>
                  <a:srgbClr val="64748B"/>
                </a:solidFill>
              </a:defRPr>
            </a:pPr>
            <a:r>
              <a:t>• Custom professional blue/white design</a:t>
            </a:r>
          </a:p>
          <a:p>
            <a:pPr>
              <a:spcAft>
                <a:spcPts val="600"/>
              </a:spcAft>
              <a:defRPr sz="1300">
                <a:solidFill>
                  <a:srgbClr val="64748B"/>
                </a:solidFill>
              </a:defRPr>
            </a:pPr>
            <a:r>
              <a:t>• Mobile-friendly collapsible navigation</a:t>
            </a:r>
          </a:p>
        </p:txBody>
      </p:sp>
      <p:sp>
        <p:nvSpPr>
          <p:cNvPr id="6" name="Rounded Rectangle 5"/>
          <p:cNvSpPr/>
          <p:nvPr/>
        </p:nvSpPr>
        <p:spPr>
          <a:xfrm>
            <a:off x="4389120" y="1645920"/>
            <a:ext cx="32918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0" y="1828800"/>
            <a:ext cx="2926080" cy="4023360"/>
          </a:xfrm>
          <a:prstGeom prst="rect">
            <a:avLst/>
          </a:prstGeom>
          <a:noFill/>
        </p:spPr>
        <p:txBody>
          <a:bodyPr wrap="square">
            <a:spAutoFit/>
          </a:bodyPr>
          <a:lstStyle/>
          <a:p>
            <a:pPr>
              <a:spcAft>
                <a:spcPts val="1000"/>
              </a:spcAft>
              <a:defRPr sz="1600" b="1">
                <a:solidFill>
                  <a:srgbClr val="0F172A"/>
                </a:solidFill>
              </a:defRPr>
            </a:pPr>
            <a:r>
              <a:t>Backend &amp; Services</a:t>
            </a:r>
          </a:p>
          <a:p>
            <a:pPr>
              <a:spcAft>
                <a:spcPts val="600"/>
              </a:spcAft>
              <a:defRPr sz="1300">
                <a:solidFill>
                  <a:srgbClr val="64748B"/>
                </a:solidFill>
              </a:defRPr>
            </a:pPr>
            <a:r>
              <a:t>• Python 3.13 &amp; Flask 3.1 REST API</a:t>
            </a:r>
          </a:p>
          <a:p>
            <a:pPr>
              <a:spcAft>
                <a:spcPts val="600"/>
              </a:spcAft>
              <a:defRPr sz="1300">
                <a:solidFill>
                  <a:srgbClr val="64748B"/>
                </a:solidFill>
              </a:defRPr>
            </a:pPr>
            <a:r>
              <a:t>• Modular Blueprint architecture</a:t>
            </a:r>
          </a:p>
          <a:p>
            <a:pPr>
              <a:spcAft>
                <a:spcPts val="600"/>
              </a:spcAft>
              <a:defRPr sz="1300">
                <a:solidFill>
                  <a:srgbClr val="64748B"/>
                </a:solidFill>
              </a:defRPr>
            </a:pPr>
            <a:r>
              <a:t>• SQLAlchemy 2.0 ORM with SQLite DB</a:t>
            </a:r>
          </a:p>
          <a:p>
            <a:pPr>
              <a:spcAft>
                <a:spcPts val="600"/>
              </a:spcAft>
              <a:defRPr sz="1300">
                <a:solidFill>
                  <a:srgbClr val="64748B"/>
                </a:solidFill>
              </a:defRPr>
            </a:pPr>
            <a:r>
              <a:t>• PBKDF2:SHA256 password security</a:t>
            </a:r>
          </a:p>
          <a:p>
            <a:pPr>
              <a:spcAft>
                <a:spcPts val="600"/>
              </a:spcAft>
              <a:defRPr sz="1300">
                <a:solidFill>
                  <a:srgbClr val="64748B"/>
                </a:solidFill>
              </a:defRPr>
            </a:pPr>
            <a:r>
              <a:t>• Pytest automated testing framework</a:t>
            </a:r>
          </a:p>
        </p:txBody>
      </p:sp>
      <p:sp>
        <p:nvSpPr>
          <p:cNvPr id="8" name="Rounded Rectangle 7"/>
          <p:cNvSpPr/>
          <p:nvPr/>
        </p:nvSpPr>
        <p:spPr>
          <a:xfrm>
            <a:off x="8046720" y="1645920"/>
            <a:ext cx="32918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0" y="1828800"/>
            <a:ext cx="2926080" cy="4023360"/>
          </a:xfrm>
          <a:prstGeom prst="rect">
            <a:avLst/>
          </a:prstGeom>
          <a:noFill/>
        </p:spPr>
        <p:txBody>
          <a:bodyPr wrap="square">
            <a:spAutoFit/>
          </a:bodyPr>
          <a:lstStyle/>
          <a:p>
            <a:pPr>
              <a:spcAft>
                <a:spcPts val="1000"/>
              </a:spcAft>
              <a:defRPr sz="1600" b="1">
                <a:solidFill>
                  <a:srgbClr val="0F172A"/>
                </a:solidFill>
              </a:defRPr>
            </a:pPr>
            <a:r>
              <a:t>AI &amp; Machine Learning</a:t>
            </a:r>
          </a:p>
          <a:p>
            <a:pPr>
              <a:spcAft>
                <a:spcPts val="600"/>
              </a:spcAft>
              <a:defRPr sz="1300">
                <a:solidFill>
                  <a:srgbClr val="64748B"/>
                </a:solidFill>
              </a:defRPr>
            </a:pPr>
            <a:r>
              <a:t>• Ollama HTTP API (Llama 3.2 / Qwen)</a:t>
            </a:r>
          </a:p>
          <a:p>
            <a:pPr>
              <a:spcAft>
                <a:spcPts val="600"/>
              </a:spcAft>
              <a:defRPr sz="1300">
                <a:solidFill>
                  <a:srgbClr val="64748B"/>
                </a:solidFill>
              </a:defRPr>
            </a:pPr>
            <a:r>
              <a:t>• PyMuPDF (fitz) PDF parser</a:t>
            </a:r>
          </a:p>
          <a:p>
            <a:pPr>
              <a:spcAft>
                <a:spcPts val="600"/>
              </a:spcAft>
              <a:defRPr sz="1300">
                <a:solidFill>
                  <a:srgbClr val="64748B"/>
                </a:solidFill>
              </a:defRPr>
            </a:pPr>
            <a:r>
              <a:t>• Sentence Transformers (all-MiniLM-L6-v2)</a:t>
            </a:r>
          </a:p>
          <a:p>
            <a:pPr>
              <a:spcAft>
                <a:spcPts val="600"/>
              </a:spcAft>
              <a:defRPr sz="1300">
                <a:solidFill>
                  <a:srgbClr val="64748B"/>
                </a:solidFill>
              </a:defRPr>
            </a:pPr>
            <a:r>
              <a:t>• Cosine Similarity semantic retrieval</a:t>
            </a:r>
          </a:p>
          <a:p>
            <a:pPr>
              <a:spcAft>
                <a:spcPts val="600"/>
              </a:spcAft>
              <a:defRPr sz="1300">
                <a:solidFill>
                  <a:srgbClr val="64748B"/>
                </a:solidFill>
              </a:defRPr>
            </a:pPr>
            <a:r>
              <a:t>• Scikit-Learn Random Forest Pipeline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7315200" cy="320040"/>
          </a:xfrm>
          <a:prstGeom prst="rect">
            <a:avLst/>
          </a:prstGeom>
          <a:noFill/>
        </p:spPr>
        <p:txBody>
          <a:bodyPr wrap="square">
            <a:spAutoFit/>
          </a:bodyPr>
          <a:lstStyle/>
          <a:p>
            <a:pPr>
              <a:defRPr sz="1100" b="1">
                <a:solidFill>
                  <a:srgbClr val="0D6EFD"/>
                </a:solidFill>
              </a:defRPr>
            </a:pPr>
            <a:r>
              <a:t>CORE MODULES</a:t>
            </a:r>
          </a:p>
        </p:txBody>
      </p:sp>
      <p:sp>
        <p:nvSpPr>
          <p:cNvPr id="3" name="TextBox 2"/>
          <p:cNvSpPr txBox="1"/>
          <p:nvPr/>
        </p:nvSpPr>
        <p:spPr>
          <a:xfrm>
            <a:off x="731520" y="685800"/>
            <a:ext cx="10698480" cy="731520"/>
          </a:xfrm>
          <a:prstGeom prst="rect">
            <a:avLst/>
          </a:prstGeom>
          <a:noFill/>
        </p:spPr>
        <p:txBody>
          <a:bodyPr wrap="square">
            <a:spAutoFit/>
          </a:bodyPr>
          <a:lstStyle/>
          <a:p>
            <a:pPr>
              <a:defRPr sz="2400" b="1">
                <a:solidFill>
                  <a:srgbClr val="0F172A"/>
                </a:solidFill>
              </a:defRPr>
            </a:pPr>
            <a:r>
              <a:t>Module 1 &amp; 2: Security &amp; AI Study Chatbot</a:t>
            </a:r>
          </a:p>
        </p:txBody>
      </p:sp>
      <p:sp>
        <p:nvSpPr>
          <p:cNvPr id="4" name="Rounded Rectangle 3"/>
          <p:cNvSpPr/>
          <p:nvPr/>
        </p:nvSpPr>
        <p:spPr>
          <a:xfrm>
            <a:off x="731520"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4754880" cy="4023360"/>
          </a:xfrm>
          <a:prstGeom prst="rect">
            <a:avLst/>
          </a:prstGeom>
          <a:noFill/>
        </p:spPr>
        <p:txBody>
          <a:bodyPr wrap="square">
            <a:spAutoFit/>
          </a:bodyPr>
          <a:lstStyle/>
          <a:p>
            <a:pPr>
              <a:spcAft>
                <a:spcPts val="1000"/>
              </a:spcAft>
              <a:defRPr sz="1600" b="1">
                <a:solidFill>
                  <a:srgbClr val="0F172A"/>
                </a:solidFill>
              </a:defRPr>
            </a:pPr>
            <a:r>
              <a:t>Module 1: Student Security &amp; Isolation</a:t>
            </a:r>
          </a:p>
          <a:p>
            <a:pPr>
              <a:spcAft>
                <a:spcPts val="600"/>
              </a:spcAft>
              <a:defRPr sz="1300">
                <a:solidFill>
                  <a:srgbClr val="64748B"/>
                </a:solidFill>
              </a:defRPr>
            </a:pPr>
            <a:r>
              <a:t>• Cryptographic password hashing via Werkzeug PBKDF2:SHA256.</a:t>
            </a:r>
          </a:p>
          <a:p>
            <a:pPr>
              <a:spcAft>
                <a:spcPts val="600"/>
              </a:spcAft>
              <a:defRPr sz="1300">
                <a:solidFill>
                  <a:srgbClr val="64748B"/>
                </a:solidFill>
              </a:defRPr>
            </a:pPr>
            <a:r>
              <a:t>• Custom @login_required decorator protecting all private routes.</a:t>
            </a:r>
          </a:p>
          <a:p>
            <a:pPr>
              <a:spcAft>
                <a:spcPts val="600"/>
              </a:spcAft>
              <a:defRPr sz="1300">
                <a:solidFill>
                  <a:srgbClr val="64748B"/>
                </a:solidFill>
              </a:defRPr>
            </a:pPr>
            <a:r>
              <a:t>• Strict multi-tenant database isolation: One student cannot view or query another student's documents, quizzes, or grade forecasts.</a:t>
            </a:r>
          </a:p>
          <a:p>
            <a:pPr>
              <a:spcAft>
                <a:spcPts val="600"/>
              </a:spcAft>
              <a:defRPr sz="1300">
                <a:solidFill>
                  <a:srgbClr val="64748B"/>
                </a:solidFill>
              </a:defRPr>
            </a:pPr>
            <a:r>
              <a:t>• Automatic session expiry and secure cookie management.</a:t>
            </a:r>
          </a:p>
          <a:p>
            <a:pPr>
              <a:spcAft>
                <a:spcPts val="600"/>
              </a:spcAft>
              <a:defRPr sz="1300">
                <a:solidFill>
                  <a:srgbClr val="64748B"/>
                </a:solidFill>
              </a:defRPr>
            </a:pPr>
            <a:r>
              <a:t>• Validated JSON API error handling with HTTP 401/409 codes.</a:t>
            </a:r>
          </a:p>
        </p:txBody>
      </p:sp>
      <p:sp>
        <p:nvSpPr>
          <p:cNvPr id="6" name="Rounded Rectangle 5"/>
          <p:cNvSpPr/>
          <p:nvPr/>
        </p:nvSpPr>
        <p:spPr>
          <a:xfrm>
            <a:off x="6217920"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0" y="1828800"/>
            <a:ext cx="4754880" cy="4023360"/>
          </a:xfrm>
          <a:prstGeom prst="rect">
            <a:avLst/>
          </a:prstGeom>
          <a:noFill/>
        </p:spPr>
        <p:txBody>
          <a:bodyPr wrap="square">
            <a:spAutoFit/>
          </a:bodyPr>
          <a:lstStyle/>
          <a:p>
            <a:pPr>
              <a:spcAft>
                <a:spcPts val="1000"/>
              </a:spcAft>
              <a:defRPr sz="1600" b="1">
                <a:solidFill>
                  <a:srgbClr val="0F172A"/>
                </a:solidFill>
              </a:defRPr>
            </a:pPr>
            <a:r>
              <a:t>Module 2: AI Study Chatbot Engine</a:t>
            </a:r>
          </a:p>
          <a:p>
            <a:pPr>
              <a:spcAft>
                <a:spcPts val="600"/>
              </a:spcAft>
              <a:defRPr sz="1300">
                <a:solidFill>
                  <a:srgbClr val="64748B"/>
                </a:solidFill>
              </a:defRPr>
            </a:pPr>
            <a:r>
              <a:t>• Powered by local Ollama instance with zero external cloud dependencies.</a:t>
            </a:r>
          </a:p>
          <a:p>
            <a:pPr>
              <a:spcAft>
                <a:spcPts val="600"/>
              </a:spcAft>
              <a:defRPr sz="1300">
                <a:solidFill>
                  <a:srgbClr val="64748B"/>
                </a:solidFill>
              </a:defRPr>
            </a:pPr>
            <a:r>
              <a:t>• Pedagogical tutor persona: Explains concepts step-by-step with analogies and mathematical proofs.</a:t>
            </a:r>
          </a:p>
          <a:p>
            <a:pPr>
              <a:spcAft>
                <a:spcPts val="600"/>
              </a:spcAft>
              <a:defRPr sz="1300">
                <a:solidFill>
                  <a:srgbClr val="64748B"/>
                </a:solidFill>
              </a:defRPr>
            </a:pPr>
            <a:r>
              <a:t>• Multi-turn conversation memory maintained in SQLite.</a:t>
            </a:r>
          </a:p>
          <a:p>
            <a:pPr>
              <a:spcAft>
                <a:spcPts val="600"/>
              </a:spcAft>
              <a:defRPr sz="1300">
                <a:solidFill>
                  <a:srgbClr val="64748B"/>
                </a:solidFill>
              </a:defRPr>
            </a:pPr>
            <a:r>
              <a:t>• Frontend interactive bubble interface with real-time typing indicators.</a:t>
            </a:r>
          </a:p>
          <a:p>
            <a:pPr>
              <a:spcAft>
                <a:spcPts val="600"/>
              </a:spcAft>
              <a:defRPr sz="1300">
                <a:solidFill>
                  <a:srgbClr val="64748B"/>
                </a:solidFill>
              </a:defRPr>
            </a:pPr>
            <a:r>
              <a:t>• Resilient offline handling: Detects daemon state and guides the student.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7315200" cy="320040"/>
          </a:xfrm>
          <a:prstGeom prst="rect">
            <a:avLst/>
          </a:prstGeom>
          <a:noFill/>
        </p:spPr>
        <p:txBody>
          <a:bodyPr wrap="square">
            <a:spAutoFit/>
          </a:bodyPr>
          <a:lstStyle/>
          <a:p>
            <a:pPr>
              <a:defRPr sz="1100" b="1">
                <a:solidFill>
                  <a:srgbClr val="0D6EFD"/>
                </a:solidFill>
              </a:defRPr>
            </a:pPr>
            <a:r>
              <a:t>NLP &amp; RAG</a:t>
            </a:r>
          </a:p>
        </p:txBody>
      </p:sp>
      <p:sp>
        <p:nvSpPr>
          <p:cNvPr id="3" name="TextBox 2"/>
          <p:cNvSpPr txBox="1"/>
          <p:nvPr/>
        </p:nvSpPr>
        <p:spPr>
          <a:xfrm>
            <a:off x="731520" y="685800"/>
            <a:ext cx="10698480" cy="731520"/>
          </a:xfrm>
          <a:prstGeom prst="rect">
            <a:avLst/>
          </a:prstGeom>
          <a:noFill/>
        </p:spPr>
        <p:txBody>
          <a:bodyPr wrap="square">
            <a:spAutoFit/>
          </a:bodyPr>
          <a:lstStyle/>
          <a:p>
            <a:pPr>
              <a:defRPr sz="2400" b="1">
                <a:solidFill>
                  <a:srgbClr val="0F172A"/>
                </a:solidFill>
              </a:defRPr>
            </a:pPr>
            <a:r>
              <a:t>Module 3: PDF Notes Assistant (Semantic RAG)</a:t>
            </a:r>
          </a:p>
        </p:txBody>
      </p:sp>
      <p:sp>
        <p:nvSpPr>
          <p:cNvPr id="4" name="Rounded Rectangle 3"/>
          <p:cNvSpPr/>
          <p:nvPr/>
        </p:nvSpPr>
        <p:spPr>
          <a:xfrm>
            <a:off x="731520"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4754880" cy="4023360"/>
          </a:xfrm>
          <a:prstGeom prst="rect">
            <a:avLst/>
          </a:prstGeom>
          <a:noFill/>
        </p:spPr>
        <p:txBody>
          <a:bodyPr wrap="square">
            <a:spAutoFit/>
          </a:bodyPr>
          <a:lstStyle/>
          <a:p>
            <a:pPr>
              <a:spcAft>
                <a:spcPts val="1000"/>
              </a:spcAft>
              <a:defRPr sz="1600" b="1">
                <a:solidFill>
                  <a:srgbClr val="0F172A"/>
                </a:solidFill>
              </a:defRPr>
            </a:pPr>
            <a:r>
              <a:t>Document Processing Pipeline</a:t>
            </a:r>
          </a:p>
          <a:p>
            <a:pPr>
              <a:spcAft>
                <a:spcPts val="600"/>
              </a:spcAft>
              <a:defRPr sz="1300">
                <a:solidFill>
                  <a:srgbClr val="64748B"/>
                </a:solidFill>
              </a:defRPr>
            </a:pPr>
            <a:r>
              <a:t>• 1. Ingestion: Upload lecture notes PDF (16MB max limit).</a:t>
            </a:r>
          </a:p>
          <a:p>
            <a:pPr>
              <a:spcAft>
                <a:spcPts val="600"/>
              </a:spcAft>
              <a:defRPr sz="1300">
                <a:solidFill>
                  <a:srgbClr val="64748B"/>
                </a:solidFill>
              </a:defRPr>
            </a:pPr>
            <a:r>
              <a:t>• 2. Extraction: PyMuPDF parses text while tracking 1-indexed page numbers.</a:t>
            </a:r>
          </a:p>
          <a:p>
            <a:pPr>
              <a:spcAft>
                <a:spcPts val="600"/>
              </a:spcAft>
              <a:defRPr sz="1300">
                <a:solidFill>
                  <a:srgbClr val="64748B"/>
                </a:solidFill>
              </a:defRPr>
            </a:pPr>
            <a:r>
              <a:t>• 3. Chunking: Sliding window of 500 characters with 100-character overlap preserves semantic context.</a:t>
            </a:r>
          </a:p>
          <a:p>
            <a:pPr>
              <a:spcAft>
                <a:spcPts val="600"/>
              </a:spcAft>
              <a:defRPr sz="1300">
                <a:solidFill>
                  <a:srgbClr val="64748B"/>
                </a:solidFill>
              </a:defRPr>
            </a:pPr>
            <a:r>
              <a:t>• 4. Embeddings: Dense vectors generated via all-MiniLM-L6-v2.</a:t>
            </a:r>
          </a:p>
          <a:p>
            <a:pPr>
              <a:spcAft>
                <a:spcPts val="600"/>
              </a:spcAft>
              <a:defRPr sz="1300">
                <a:solidFill>
                  <a:srgbClr val="64748B"/>
                </a:solidFill>
              </a:defRPr>
            </a:pPr>
            <a:r>
              <a:t>• 5. Retrieval: Normalized cosine similarity fetches top-4 most relevant context passages.</a:t>
            </a:r>
          </a:p>
        </p:txBody>
      </p:sp>
      <p:sp>
        <p:nvSpPr>
          <p:cNvPr id="6" name="Rounded Rectangle 5"/>
          <p:cNvSpPr/>
          <p:nvPr/>
        </p:nvSpPr>
        <p:spPr>
          <a:xfrm>
            <a:off x="6217920"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0" y="1828800"/>
            <a:ext cx="4754880" cy="4023360"/>
          </a:xfrm>
          <a:prstGeom prst="rect">
            <a:avLst/>
          </a:prstGeom>
          <a:noFill/>
        </p:spPr>
        <p:txBody>
          <a:bodyPr wrap="square">
            <a:spAutoFit/>
          </a:bodyPr>
          <a:lstStyle/>
          <a:p>
            <a:pPr>
              <a:spcAft>
                <a:spcPts val="1000"/>
              </a:spcAft>
              <a:defRPr sz="1600" b="1">
                <a:solidFill>
                  <a:srgbClr val="0F172A"/>
                </a:solidFill>
              </a:defRPr>
            </a:pPr>
            <a:r>
              <a:t>Grounded Q&amp;A &amp; Anti-Hallucination Guard</a:t>
            </a:r>
          </a:p>
          <a:p>
            <a:pPr>
              <a:spcAft>
                <a:spcPts val="600"/>
              </a:spcAft>
              <a:defRPr sz="1300">
                <a:solidFill>
                  <a:srgbClr val="64748B"/>
                </a:solidFill>
              </a:defRPr>
            </a:pPr>
            <a:r>
              <a:t>• Strict Context Injection: The LLM is restricted to the retrieved passages.</a:t>
            </a:r>
          </a:p>
          <a:p>
            <a:pPr>
              <a:spcAft>
                <a:spcPts val="600"/>
              </a:spcAft>
              <a:defRPr sz="1300">
                <a:solidFill>
                  <a:srgbClr val="64748B"/>
                </a:solidFill>
              </a:defRPr>
            </a:pPr>
            <a:r>
              <a:t>• Exact Source Citations: Responses cite verifiable page numbers (e.g. [Source Page 2]).</a:t>
            </a:r>
          </a:p>
          <a:p>
            <a:pPr>
              <a:spcAft>
                <a:spcPts val="600"/>
              </a:spcAft>
              <a:defRPr sz="1300">
                <a:solidFill>
                  <a:srgbClr val="64748B"/>
                </a:solidFill>
              </a:defRPr>
            </a:pPr>
            <a:r>
              <a:t>• Hallucination Refusal: If notes do not contain the answer, the model states: 'The uploaded notes do not contain enough information to answer this question.'</a:t>
            </a:r>
          </a:p>
          <a:p>
            <a:pPr>
              <a:spcAft>
                <a:spcPts val="600"/>
              </a:spcAft>
              <a:defRPr sz="1300">
                <a:solidFill>
                  <a:srgbClr val="64748B"/>
                </a:solidFill>
              </a:defRPr>
            </a:pPr>
            <a:r>
              <a:t>• Executive Summaries: Automatically generates chapter summaries and bulleted key takeaways upon upload.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7315200" cy="320040"/>
          </a:xfrm>
          <a:prstGeom prst="rect">
            <a:avLst/>
          </a:prstGeom>
          <a:noFill/>
        </p:spPr>
        <p:txBody>
          <a:bodyPr wrap="square">
            <a:spAutoFit/>
          </a:bodyPr>
          <a:lstStyle/>
          <a:p>
            <a:pPr>
              <a:defRPr sz="1100" b="1">
                <a:solidFill>
                  <a:srgbClr val="0D6EFD"/>
                </a:solidFill>
              </a:defRPr>
            </a:pPr>
            <a:r>
              <a:t>ACTIVE RECALL</a:t>
            </a:r>
          </a:p>
        </p:txBody>
      </p:sp>
      <p:sp>
        <p:nvSpPr>
          <p:cNvPr id="3" name="TextBox 2"/>
          <p:cNvSpPr txBox="1"/>
          <p:nvPr/>
        </p:nvSpPr>
        <p:spPr>
          <a:xfrm>
            <a:off x="731520" y="685800"/>
            <a:ext cx="10698480" cy="731520"/>
          </a:xfrm>
          <a:prstGeom prst="rect">
            <a:avLst/>
          </a:prstGeom>
          <a:noFill/>
        </p:spPr>
        <p:txBody>
          <a:bodyPr wrap="square">
            <a:spAutoFit/>
          </a:bodyPr>
          <a:lstStyle/>
          <a:p>
            <a:pPr>
              <a:defRPr sz="2400" b="1">
                <a:solidFill>
                  <a:srgbClr val="0F172A"/>
                </a:solidFill>
              </a:defRPr>
            </a:pPr>
            <a:r>
              <a:t>Module 4: AI Quiz Generator &amp; Evaluation Hub</a:t>
            </a:r>
          </a:p>
        </p:txBody>
      </p:sp>
      <p:sp>
        <p:nvSpPr>
          <p:cNvPr id="4" name="Rounded Rectangle 3"/>
          <p:cNvSpPr/>
          <p:nvPr/>
        </p:nvSpPr>
        <p:spPr>
          <a:xfrm>
            <a:off x="731520" y="1645920"/>
            <a:ext cx="32918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2926080" cy="4023360"/>
          </a:xfrm>
          <a:prstGeom prst="rect">
            <a:avLst/>
          </a:prstGeom>
          <a:noFill/>
        </p:spPr>
        <p:txBody>
          <a:bodyPr wrap="square">
            <a:spAutoFit/>
          </a:bodyPr>
          <a:lstStyle/>
          <a:p>
            <a:pPr>
              <a:spcAft>
                <a:spcPts val="1000"/>
              </a:spcAft>
              <a:defRPr sz="1600" b="1">
                <a:solidFill>
                  <a:srgbClr val="0F172A"/>
                </a:solidFill>
              </a:defRPr>
            </a:pPr>
            <a:r>
              <a:t>MCQ Question Synthesis</a:t>
            </a:r>
          </a:p>
          <a:p>
            <a:pPr>
              <a:spcAft>
                <a:spcPts val="600"/>
              </a:spcAft>
              <a:defRPr sz="1300">
                <a:solidFill>
                  <a:srgbClr val="64748B"/>
                </a:solidFill>
              </a:defRPr>
            </a:pPr>
            <a:r>
              <a:t>• Generates 3 to 10 questions on any custom topic or uploaded PDF notes.</a:t>
            </a:r>
          </a:p>
          <a:p>
            <a:pPr>
              <a:spcAft>
                <a:spcPts val="600"/>
              </a:spcAft>
              <a:defRPr sz="1300">
                <a:solidFill>
                  <a:srgbClr val="64748B"/>
                </a:solidFill>
              </a:defRPr>
            </a:pPr>
            <a:r>
              <a:t>• Strict JSON schema enforcing exactly 4 distinct options (A, B, C, D).</a:t>
            </a:r>
          </a:p>
          <a:p>
            <a:pPr>
              <a:spcAft>
                <a:spcPts val="600"/>
              </a:spcAft>
              <a:defRPr sz="1300">
                <a:solidFill>
                  <a:srgbClr val="64748B"/>
                </a:solidFill>
              </a:defRPr>
            </a:pPr>
            <a:r>
              <a:t>• Every question generated includes an academic explanation.</a:t>
            </a:r>
          </a:p>
          <a:p>
            <a:pPr>
              <a:spcAft>
                <a:spcPts val="600"/>
              </a:spcAft>
              <a:defRPr sz="1300">
                <a:solidFill>
                  <a:srgbClr val="64748B"/>
                </a:solidFill>
              </a:defRPr>
            </a:pPr>
            <a:r>
              <a:t>• Fallback structured questions for reliable offline assessment.</a:t>
            </a:r>
          </a:p>
        </p:txBody>
      </p:sp>
      <p:sp>
        <p:nvSpPr>
          <p:cNvPr id="6" name="Rounded Rectangle 5"/>
          <p:cNvSpPr/>
          <p:nvPr/>
        </p:nvSpPr>
        <p:spPr>
          <a:xfrm>
            <a:off x="4389120" y="1645920"/>
            <a:ext cx="32918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0" y="1828800"/>
            <a:ext cx="2926080" cy="4023360"/>
          </a:xfrm>
          <a:prstGeom prst="rect">
            <a:avLst/>
          </a:prstGeom>
          <a:noFill/>
        </p:spPr>
        <p:txBody>
          <a:bodyPr wrap="square">
            <a:spAutoFit/>
          </a:bodyPr>
          <a:lstStyle/>
          <a:p>
            <a:pPr>
              <a:spcAft>
                <a:spcPts val="1000"/>
              </a:spcAft>
              <a:defRPr sz="1600" b="1">
                <a:solidFill>
                  <a:srgbClr val="0F172A"/>
                </a:solidFill>
              </a:defRPr>
            </a:pPr>
            <a:r>
              <a:t>Anti-Cheating Architecture</a:t>
            </a:r>
          </a:p>
          <a:p>
            <a:pPr>
              <a:spcAft>
                <a:spcPts val="600"/>
              </a:spcAft>
              <a:defRPr sz="1300">
                <a:solidFill>
                  <a:srgbClr val="64748B"/>
                </a:solidFill>
              </a:defRPr>
            </a:pPr>
            <a:r>
              <a:t>• Correct options are stored separately on the server database.</a:t>
            </a:r>
          </a:p>
          <a:p>
            <a:pPr>
              <a:spcAft>
                <a:spcPts val="600"/>
              </a:spcAft>
              <a:defRPr sz="1300">
                <a:solidFill>
                  <a:srgbClr val="64748B"/>
                </a:solidFill>
              </a:defRPr>
            </a:pPr>
            <a:r>
              <a:t>• Exam API serves only question text and options during test execution.</a:t>
            </a:r>
          </a:p>
          <a:p>
            <a:pPr>
              <a:spcAft>
                <a:spcPts val="600"/>
              </a:spcAft>
              <a:defRPr sz="1300">
                <a:solidFill>
                  <a:srgbClr val="64748B"/>
                </a:solidFill>
              </a:defRPr>
            </a:pPr>
            <a:r>
              <a:t>• Inspect-element attacks in the browser cannot reveal answer keys.</a:t>
            </a:r>
          </a:p>
          <a:p>
            <a:pPr>
              <a:spcAft>
                <a:spcPts val="600"/>
              </a:spcAft>
              <a:defRPr sz="1300">
                <a:solidFill>
                  <a:srgbClr val="64748B"/>
                </a:solidFill>
              </a:defRPr>
            </a:pPr>
            <a:r>
              <a:t>• Supports full retry capability for active recall reinforcement.</a:t>
            </a:r>
          </a:p>
        </p:txBody>
      </p:sp>
      <p:sp>
        <p:nvSpPr>
          <p:cNvPr id="8" name="Rounded Rectangle 7"/>
          <p:cNvSpPr/>
          <p:nvPr/>
        </p:nvSpPr>
        <p:spPr>
          <a:xfrm>
            <a:off x="8046720" y="1645920"/>
            <a:ext cx="32918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0" y="1828800"/>
            <a:ext cx="2926080" cy="4023360"/>
          </a:xfrm>
          <a:prstGeom prst="rect">
            <a:avLst/>
          </a:prstGeom>
          <a:noFill/>
        </p:spPr>
        <p:txBody>
          <a:bodyPr wrap="square">
            <a:spAutoFit/>
          </a:bodyPr>
          <a:lstStyle/>
          <a:p>
            <a:pPr>
              <a:spcAft>
                <a:spcPts val="1000"/>
              </a:spcAft>
              <a:defRPr sz="1600" b="1">
                <a:solidFill>
                  <a:srgbClr val="0F172A"/>
                </a:solidFill>
              </a:defRPr>
            </a:pPr>
            <a:r>
              <a:t>Auto-Scoring &amp; Mistake Analysis</a:t>
            </a:r>
          </a:p>
          <a:p>
            <a:pPr>
              <a:spcAft>
                <a:spcPts val="600"/>
              </a:spcAft>
              <a:defRPr sz="1300">
                <a:solidFill>
                  <a:srgbClr val="64748B"/>
                </a:solidFill>
              </a:defRPr>
            </a:pPr>
            <a:r>
              <a:t>• Instant automatic scoring upon submission with percentage calculation.</a:t>
            </a:r>
          </a:p>
          <a:p>
            <a:pPr>
              <a:spcAft>
                <a:spcPts val="600"/>
              </a:spcAft>
              <a:defRPr sz="1300">
                <a:solidFill>
                  <a:srgbClr val="64748B"/>
                </a:solidFill>
              </a:defRPr>
            </a:pPr>
            <a:r>
              <a:t>• Color-coded scorecard: Correct (+1) vs Incorrect choices.</a:t>
            </a:r>
          </a:p>
          <a:p>
            <a:pPr>
              <a:spcAft>
                <a:spcPts val="600"/>
              </a:spcAft>
              <a:defRPr sz="1300">
                <a:solidFill>
                  <a:srgbClr val="64748B"/>
                </a:solidFill>
              </a:defRPr>
            </a:pPr>
            <a:r>
              <a:t>• Detailed explanation rendered for every choice to clarify misconceptions.</a:t>
            </a:r>
          </a:p>
          <a:p>
            <a:pPr>
              <a:spcAft>
                <a:spcPts val="600"/>
              </a:spcAft>
              <a:defRPr sz="1300">
                <a:solidFill>
                  <a:srgbClr val="64748B"/>
                </a:solidFill>
              </a:defRPr>
            </a:pPr>
            <a:r>
              <a:t>• Logs attempt history to fuel the recommendation engine.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7315200" cy="320040"/>
          </a:xfrm>
          <a:prstGeom prst="rect">
            <a:avLst/>
          </a:prstGeom>
          <a:noFill/>
        </p:spPr>
        <p:txBody>
          <a:bodyPr wrap="square">
            <a:spAutoFit/>
          </a:bodyPr>
          <a:lstStyle/>
          <a:p>
            <a:pPr>
              <a:defRPr sz="1100" b="1">
                <a:solidFill>
                  <a:srgbClr val="0D6EFD"/>
                </a:solidFill>
              </a:defRPr>
            </a:pPr>
            <a:r>
              <a:t>MACHINE LEARNING</a:t>
            </a:r>
          </a:p>
        </p:txBody>
      </p:sp>
      <p:sp>
        <p:nvSpPr>
          <p:cNvPr id="3" name="TextBox 2"/>
          <p:cNvSpPr txBox="1"/>
          <p:nvPr/>
        </p:nvSpPr>
        <p:spPr>
          <a:xfrm>
            <a:off x="731520" y="685800"/>
            <a:ext cx="10698480" cy="731520"/>
          </a:xfrm>
          <a:prstGeom prst="rect">
            <a:avLst/>
          </a:prstGeom>
          <a:noFill/>
        </p:spPr>
        <p:txBody>
          <a:bodyPr wrap="square">
            <a:spAutoFit/>
          </a:bodyPr>
          <a:lstStyle/>
          <a:p>
            <a:pPr>
              <a:defRPr sz="2400" b="1">
                <a:solidFill>
                  <a:srgbClr val="0F172A"/>
                </a:solidFill>
              </a:defRPr>
            </a:pPr>
            <a:r>
              <a:t>Module 5: Machine Learning Grade Prediction</a:t>
            </a:r>
          </a:p>
        </p:txBody>
      </p:sp>
      <p:graphicFrame>
        <p:nvGraphicFramePr>
          <p:cNvPr id="4" name="Table 3"/>
          <p:cNvGraphicFramePr>
            <a:graphicFrameLocks noGrp="1"/>
          </p:cNvGraphicFramePr>
          <p:nvPr/>
        </p:nvGraphicFramePr>
        <p:xfrm>
          <a:off x="731520" y="1645920"/>
          <a:ext cx="6583680" cy="2194560"/>
        </p:xfrm>
        <a:graphic>
          <a:graphicData uri="http://schemas.openxmlformats.org/drawingml/2006/table">
            <a:tbl>
              <a:tblPr firstRow="1" bandRow="1">
                <a:tableStyleId>{5C22544A-7EE6-4342-B048-85BDC9FD1C3A}</a:tableStyleId>
              </a:tblPr>
              <a:tblGrid>
                <a:gridCol w="1316736">
                  <a:extLst>
                    <a:ext uri="{9D8B030D-6E8A-4147-A177-3AD203B41FA5}">
                      <a16:colId xmlns:a16="http://schemas.microsoft.com/office/drawing/2014/main" val="20000"/>
                    </a:ext>
                  </a:extLst>
                </a:gridCol>
                <a:gridCol w="1316736">
                  <a:extLst>
                    <a:ext uri="{9D8B030D-6E8A-4147-A177-3AD203B41FA5}">
                      <a16:colId xmlns:a16="http://schemas.microsoft.com/office/drawing/2014/main" val="20001"/>
                    </a:ext>
                  </a:extLst>
                </a:gridCol>
                <a:gridCol w="1316736">
                  <a:extLst>
                    <a:ext uri="{9D8B030D-6E8A-4147-A177-3AD203B41FA5}">
                      <a16:colId xmlns:a16="http://schemas.microsoft.com/office/drawing/2014/main" val="20002"/>
                    </a:ext>
                  </a:extLst>
                </a:gridCol>
                <a:gridCol w="1316736">
                  <a:extLst>
                    <a:ext uri="{9D8B030D-6E8A-4147-A177-3AD203B41FA5}">
                      <a16:colId xmlns:a16="http://schemas.microsoft.com/office/drawing/2014/main" val="20003"/>
                    </a:ext>
                  </a:extLst>
                </a:gridCol>
                <a:gridCol w="1316736">
                  <a:extLst>
                    <a:ext uri="{9D8B030D-6E8A-4147-A177-3AD203B41FA5}">
                      <a16:colId xmlns:a16="http://schemas.microsoft.com/office/drawing/2014/main" val="20004"/>
                    </a:ext>
                  </a:extLst>
                </a:gridCol>
              </a:tblGrid>
              <a:tr h="731520">
                <a:tc>
                  <a:txBody>
                    <a:bodyPr/>
                    <a:lstStyle/>
                    <a:p>
                      <a:pPr>
                        <a:defRPr sz="1100" b="1">
                          <a:solidFill>
                            <a:srgbClr val="FFFFFF"/>
                          </a:solidFill>
                        </a:defRPr>
                      </a:pPr>
                      <a:r>
                        <a:t>Model Pipeline</a:t>
                      </a:r>
                    </a:p>
                  </a:txBody>
                  <a:tcPr>
                    <a:solidFill>
                      <a:srgbClr val="0F172A"/>
                    </a:solidFill>
                  </a:tcPr>
                </a:tc>
                <a:tc>
                  <a:txBody>
                    <a:bodyPr/>
                    <a:lstStyle/>
                    <a:p>
                      <a:pPr>
                        <a:defRPr sz="1100" b="1">
                          <a:solidFill>
                            <a:srgbClr val="FFFFFF"/>
                          </a:solidFill>
                        </a:defRPr>
                      </a:pPr>
                      <a:r>
                        <a:t>5-Fold CV RMSE</a:t>
                      </a:r>
                    </a:p>
                  </a:txBody>
                  <a:tcPr>
                    <a:solidFill>
                      <a:srgbClr val="0F172A"/>
                    </a:solidFill>
                  </a:tcPr>
                </a:tc>
                <a:tc>
                  <a:txBody>
                    <a:bodyPr/>
                    <a:lstStyle/>
                    <a:p>
                      <a:pPr>
                        <a:defRPr sz="1100" b="1">
                          <a:solidFill>
                            <a:srgbClr val="FFFFFF"/>
                          </a:solidFill>
                        </a:defRPr>
                      </a:pPr>
                      <a:r>
                        <a:t>Test MAE</a:t>
                      </a:r>
                    </a:p>
                  </a:txBody>
                  <a:tcPr>
                    <a:solidFill>
                      <a:srgbClr val="0F172A"/>
                    </a:solidFill>
                  </a:tcPr>
                </a:tc>
                <a:tc>
                  <a:txBody>
                    <a:bodyPr/>
                    <a:lstStyle/>
                    <a:p>
                      <a:pPr>
                        <a:defRPr sz="1100" b="1">
                          <a:solidFill>
                            <a:srgbClr val="FFFFFF"/>
                          </a:solidFill>
                        </a:defRPr>
                      </a:pPr>
                      <a:r>
                        <a:t>Test RMSE</a:t>
                      </a:r>
                    </a:p>
                  </a:txBody>
                  <a:tcPr>
                    <a:solidFill>
                      <a:srgbClr val="0F172A"/>
                    </a:solidFill>
                  </a:tcPr>
                </a:tc>
                <a:tc>
                  <a:txBody>
                    <a:bodyPr/>
                    <a:lstStyle/>
                    <a:p>
                      <a:pPr>
                        <a:defRPr sz="1100" b="1">
                          <a:solidFill>
                            <a:srgbClr val="FFFFFF"/>
                          </a:solidFill>
                        </a:defRPr>
                      </a:pPr>
                      <a:r>
                        <a:t>Test R²</a:t>
                      </a:r>
                    </a:p>
                  </a:txBody>
                  <a:tcPr>
                    <a:solidFill>
                      <a:srgbClr val="0F172A"/>
                    </a:solidFill>
                  </a:tcPr>
                </a:tc>
                <a:extLst>
                  <a:ext uri="{0D108BD9-81ED-4DB2-BD59-A6C34878D82A}">
                    <a16:rowId xmlns:a16="http://schemas.microsoft.com/office/drawing/2014/main" val="10000"/>
                  </a:ext>
                </a:extLst>
              </a:tr>
              <a:tr h="731520">
                <a:tc>
                  <a:txBody>
                    <a:bodyPr/>
                    <a:lstStyle/>
                    <a:p>
                      <a:pPr>
                        <a:defRPr sz="1100"/>
                      </a:pPr>
                      <a:r>
                        <a:t>Linear Regression (Baseline)</a:t>
                      </a:r>
                    </a:p>
                  </a:txBody>
                  <a:tcPr>
                    <a:solidFill>
                      <a:srgbClr val="F8FAFC"/>
                    </a:solidFill>
                  </a:tcPr>
                </a:tc>
                <a:tc>
                  <a:txBody>
                    <a:bodyPr/>
                    <a:lstStyle/>
                    <a:p>
                      <a:pPr>
                        <a:defRPr sz="1100"/>
                      </a:pPr>
                      <a:r>
                        <a:t>4.3030</a:t>
                      </a:r>
                    </a:p>
                  </a:txBody>
                  <a:tcPr>
                    <a:solidFill>
                      <a:srgbClr val="F8FAFC"/>
                    </a:solidFill>
                  </a:tcPr>
                </a:tc>
                <a:tc>
                  <a:txBody>
                    <a:bodyPr/>
                    <a:lstStyle/>
                    <a:p>
                      <a:pPr>
                        <a:defRPr sz="1100"/>
                      </a:pPr>
                      <a:r>
                        <a:t>3.5606</a:t>
                      </a:r>
                    </a:p>
                  </a:txBody>
                  <a:tcPr>
                    <a:solidFill>
                      <a:srgbClr val="F8FAFC"/>
                    </a:solidFill>
                  </a:tcPr>
                </a:tc>
                <a:tc>
                  <a:txBody>
                    <a:bodyPr/>
                    <a:lstStyle/>
                    <a:p>
                      <a:pPr>
                        <a:defRPr sz="1100"/>
                      </a:pPr>
                      <a:r>
                        <a:t>4.4581</a:t>
                      </a:r>
                    </a:p>
                  </a:txBody>
                  <a:tcPr>
                    <a:solidFill>
                      <a:srgbClr val="F8FAFC"/>
                    </a:solidFill>
                  </a:tcPr>
                </a:tc>
                <a:tc>
                  <a:txBody>
                    <a:bodyPr/>
                    <a:lstStyle/>
                    <a:p>
                      <a:pPr>
                        <a:defRPr sz="1100"/>
                      </a:pPr>
                      <a:r>
                        <a:t>0.0307</a:t>
                      </a:r>
                    </a:p>
                  </a:txBody>
                  <a:tcPr>
                    <a:solidFill>
                      <a:srgbClr val="F8FAFC"/>
                    </a:solidFill>
                  </a:tcPr>
                </a:tc>
                <a:extLst>
                  <a:ext uri="{0D108BD9-81ED-4DB2-BD59-A6C34878D82A}">
                    <a16:rowId xmlns:a16="http://schemas.microsoft.com/office/drawing/2014/main" val="10001"/>
                  </a:ext>
                </a:extLst>
              </a:tr>
              <a:tr h="731520">
                <a:tc>
                  <a:txBody>
                    <a:bodyPr/>
                    <a:lstStyle/>
                    <a:p>
                      <a:pPr>
                        <a:defRPr sz="1100" b="1">
                          <a:solidFill>
                            <a:srgbClr val="10B981"/>
                          </a:solidFill>
                        </a:defRPr>
                      </a:pPr>
                      <a:r>
                        <a:t>Random Forest Regressor</a:t>
                      </a:r>
                    </a:p>
                  </a:txBody>
                  <a:tcPr>
                    <a:solidFill>
                      <a:srgbClr val="F0FDF4"/>
                    </a:solidFill>
                  </a:tcPr>
                </a:tc>
                <a:tc>
                  <a:txBody>
                    <a:bodyPr/>
                    <a:lstStyle/>
                    <a:p>
                      <a:pPr>
                        <a:defRPr sz="1100" b="1">
                          <a:solidFill>
                            <a:srgbClr val="10B981"/>
                          </a:solidFill>
                        </a:defRPr>
                      </a:pPr>
                      <a:r>
                        <a:t>4.1317</a:t>
                      </a:r>
                    </a:p>
                  </a:txBody>
                  <a:tcPr>
                    <a:solidFill>
                      <a:srgbClr val="F0FDF4"/>
                    </a:solidFill>
                  </a:tcPr>
                </a:tc>
                <a:tc>
                  <a:txBody>
                    <a:bodyPr/>
                    <a:lstStyle/>
                    <a:p>
                      <a:pPr>
                        <a:defRPr sz="1100" b="1">
                          <a:solidFill>
                            <a:srgbClr val="10B981"/>
                          </a:solidFill>
                        </a:defRPr>
                      </a:pPr>
                      <a:r>
                        <a:t>3.4194</a:t>
                      </a:r>
                    </a:p>
                  </a:txBody>
                  <a:tcPr>
                    <a:solidFill>
                      <a:srgbClr val="F0FDF4"/>
                    </a:solidFill>
                  </a:tcPr>
                </a:tc>
                <a:tc>
                  <a:txBody>
                    <a:bodyPr/>
                    <a:lstStyle/>
                    <a:p>
                      <a:pPr>
                        <a:defRPr sz="1100" b="1">
                          <a:solidFill>
                            <a:srgbClr val="10B981"/>
                          </a:solidFill>
                        </a:defRPr>
                      </a:pPr>
                      <a:r>
                        <a:t>4.2867</a:t>
                      </a:r>
                    </a:p>
                  </a:txBody>
                  <a:tcPr>
                    <a:solidFill>
                      <a:srgbClr val="F0FDF4"/>
                    </a:solidFill>
                  </a:tcPr>
                </a:tc>
                <a:tc>
                  <a:txBody>
                    <a:bodyPr/>
                    <a:lstStyle/>
                    <a:p>
                      <a:pPr>
                        <a:defRPr sz="1100" b="1">
                          <a:solidFill>
                            <a:srgbClr val="10B981"/>
                          </a:solidFill>
                        </a:defRPr>
                      </a:pPr>
                      <a:r>
                        <a:t>0.1038</a:t>
                      </a:r>
                    </a:p>
                  </a:txBody>
                  <a:tcPr>
                    <a:solidFill>
                      <a:srgbClr val="F0FDF4"/>
                    </a:solidFill>
                  </a:tcPr>
                </a:tc>
                <a:extLst>
                  <a:ext uri="{0D108BD9-81ED-4DB2-BD59-A6C34878D82A}">
                    <a16:rowId xmlns:a16="http://schemas.microsoft.com/office/drawing/2014/main" val="10002"/>
                  </a:ext>
                </a:extLst>
              </a:tr>
            </a:tbl>
          </a:graphicData>
        </a:graphic>
      </p:graphicFrame>
      <p:sp>
        <p:nvSpPr>
          <p:cNvPr id="5" name="Rounded Rectangle 4"/>
          <p:cNvSpPr/>
          <p:nvPr/>
        </p:nvSpPr>
        <p:spPr>
          <a:xfrm>
            <a:off x="7589520" y="1645920"/>
            <a:ext cx="38404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0" y="1828800"/>
            <a:ext cx="3474720" cy="4023360"/>
          </a:xfrm>
          <a:prstGeom prst="rect">
            <a:avLst/>
          </a:prstGeom>
          <a:noFill/>
        </p:spPr>
        <p:txBody>
          <a:bodyPr wrap="square">
            <a:spAutoFit/>
          </a:bodyPr>
          <a:lstStyle/>
          <a:p>
            <a:pPr>
              <a:spcAft>
                <a:spcPts val="1000"/>
              </a:spcAft>
              <a:defRPr sz="1600" b="1">
                <a:solidFill>
                  <a:srgbClr val="0F172A"/>
                </a:solidFill>
              </a:defRPr>
            </a:pPr>
            <a:r>
              <a:t>Feature Importance Weights</a:t>
            </a:r>
          </a:p>
          <a:p>
            <a:pPr>
              <a:spcAft>
                <a:spcPts val="600"/>
              </a:spcAft>
              <a:defRPr sz="1300">
                <a:solidFill>
                  <a:srgbClr val="64748B"/>
                </a:solidFill>
              </a:defRPr>
            </a:pPr>
            <a:r>
              <a:t>• Lecture Absences (absences): 47.39%</a:t>
            </a:r>
            <a:br/>
            <a:r>
              <a:t>Strongest non-linear indicator of study consistency.</a:t>
            </a:r>
          </a:p>
          <a:p>
            <a:pPr>
              <a:spcAft>
                <a:spcPts val="600"/>
              </a:spcAft>
              <a:defRPr sz="1300">
                <a:solidFill>
                  <a:srgbClr val="64748B"/>
                </a:solidFill>
              </a:defRPr>
            </a:pPr>
            <a:r>
              <a:t>• Past Class Failures (failures): 39.98%</a:t>
            </a:r>
            <a:br/>
            <a:r>
              <a:t>Significant historical drag on predicted final marks.</a:t>
            </a:r>
          </a:p>
          <a:p>
            <a:pPr>
              <a:spcAft>
                <a:spcPts val="600"/>
              </a:spcAft>
              <a:defRPr sz="1300">
                <a:solidFill>
                  <a:srgbClr val="64748B"/>
                </a:solidFill>
              </a:defRPr>
            </a:pPr>
            <a:r>
              <a:t>• Weekly Study Time (studytime): 12.63%</a:t>
            </a:r>
            <a:br/>
            <a:r>
              <a:t>Positive factor (&gt;5 hrs/week yields 2-3 pt boost).</a:t>
            </a:r>
          </a:p>
          <a:p>
            <a:pPr>
              <a:spcAft>
                <a:spcPts val="600"/>
              </a:spcAft>
              <a:defRPr sz="1300">
                <a:solidFill>
                  <a:srgbClr val="64748B"/>
                </a:solidFill>
              </a:defRPr>
            </a:pPr>
            <a:r>
              <a:t>• Dataset: UCI Student Performance (student-mat.csv, N=395).</a:t>
            </a:r>
          </a:p>
          <a:p>
            <a:pPr>
              <a:spcAft>
                <a:spcPts val="600"/>
              </a:spcAft>
              <a:defRPr sz="1300">
                <a:solidFill>
                  <a:srgbClr val="64748B"/>
                </a:solidFill>
              </a:defRPr>
            </a:pPr>
            <a:r>
              <a:t>• Strict early prediction: G1 and G2 excluded.</a:t>
            </a:r>
          </a:p>
        </p:txBody>
      </p:sp>
      <p:sp>
        <p:nvSpPr>
          <p:cNvPr id="7" name="TextBox 6"/>
          <p:cNvSpPr txBox="1"/>
          <p:nvPr/>
        </p:nvSpPr>
        <p:spPr>
          <a:xfrm>
            <a:off x="731520" y="4114800"/>
            <a:ext cx="6583680" cy="1920240"/>
          </a:xfrm>
          <a:prstGeom prst="rect">
            <a:avLst/>
          </a:prstGeom>
          <a:noFill/>
        </p:spPr>
        <p:txBody>
          <a:bodyPr wrap="square">
            <a:spAutoFit/>
          </a:bodyPr>
          <a:lstStyle/>
          <a:p>
            <a:pPr>
              <a:defRPr sz="1300" b="1">
                <a:solidFill>
                  <a:srgbClr val="0F172A"/>
                </a:solidFill>
              </a:defRPr>
            </a:pPr>
            <a:r>
              <a:t>Experimental Setup &amp; Ethical Compliance:</a:t>
            </a:r>
          </a:p>
          <a:p>
            <a:pPr>
              <a:defRPr sz="1150">
                <a:solidFill>
                  <a:srgbClr val="64748B"/>
                </a:solidFill>
              </a:defRPr>
            </a:pPr>
            <a:r>
              <a:t>• Predicts final grade G3 on a 0–20 scale early in the academic term.</a:t>
            </a:r>
          </a:p>
          <a:p>
            <a:pPr>
              <a:defRPr sz="1150">
                <a:solidFill>
                  <a:srgbClr val="64748B"/>
                </a:solidFill>
              </a:defRPr>
            </a:pPr>
            <a:r>
              <a:t>• Trained pipeline (StandardScaler + RandomForest) serialized using Joblib.</a:t>
            </a:r>
          </a:p>
          <a:p>
            <a:pPr>
              <a:defRPr sz="1150">
                <a:solidFill>
                  <a:srgbClr val="64748B"/>
                </a:solidFill>
              </a:defRPr>
            </a:pPr>
            <a:r>
              <a:t>• Includes prominent statistical disclaimer: Estimates serve as early advisory signals, not deterministic exam guarantees.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7315200" cy="320040"/>
          </a:xfrm>
          <a:prstGeom prst="rect">
            <a:avLst/>
          </a:prstGeom>
          <a:noFill/>
        </p:spPr>
        <p:txBody>
          <a:bodyPr wrap="square">
            <a:spAutoFit/>
          </a:bodyPr>
          <a:lstStyle/>
          <a:p>
            <a:pPr>
              <a:defRPr sz="1100" b="1">
                <a:solidFill>
                  <a:srgbClr val="0D6EFD"/>
                </a:solidFill>
              </a:defRPr>
            </a:pPr>
            <a:r>
              <a:t>ANALYTICS</a:t>
            </a:r>
          </a:p>
        </p:txBody>
      </p:sp>
      <p:sp>
        <p:nvSpPr>
          <p:cNvPr id="3" name="TextBox 2"/>
          <p:cNvSpPr txBox="1"/>
          <p:nvPr/>
        </p:nvSpPr>
        <p:spPr>
          <a:xfrm>
            <a:off x="731520" y="685800"/>
            <a:ext cx="10698480" cy="731520"/>
          </a:xfrm>
          <a:prstGeom prst="rect">
            <a:avLst/>
          </a:prstGeom>
          <a:noFill/>
        </p:spPr>
        <p:txBody>
          <a:bodyPr wrap="square">
            <a:spAutoFit/>
          </a:bodyPr>
          <a:lstStyle/>
          <a:p>
            <a:pPr>
              <a:defRPr sz="2400" b="1">
                <a:solidFill>
                  <a:srgbClr val="0F172A"/>
                </a:solidFill>
              </a:defRPr>
            </a:pPr>
            <a:r>
              <a:t>Modules 6 &amp; 7: Recommendations &amp; Dashboard Analytics</a:t>
            </a:r>
          </a:p>
        </p:txBody>
      </p:sp>
      <p:sp>
        <p:nvSpPr>
          <p:cNvPr id="4" name="Rounded Rectangle 3"/>
          <p:cNvSpPr/>
          <p:nvPr/>
        </p:nvSpPr>
        <p:spPr>
          <a:xfrm>
            <a:off x="731520"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4754880" cy="4023360"/>
          </a:xfrm>
          <a:prstGeom prst="rect">
            <a:avLst/>
          </a:prstGeom>
          <a:noFill/>
        </p:spPr>
        <p:txBody>
          <a:bodyPr wrap="square">
            <a:spAutoFit/>
          </a:bodyPr>
          <a:lstStyle/>
          <a:p>
            <a:pPr>
              <a:spcAft>
                <a:spcPts val="1000"/>
              </a:spcAft>
              <a:defRPr sz="1600" b="1">
                <a:solidFill>
                  <a:srgbClr val="0F172A"/>
                </a:solidFill>
              </a:defRPr>
            </a:pPr>
            <a:r>
              <a:t>Module 6: Personalized Recommendations</a:t>
            </a:r>
          </a:p>
          <a:p>
            <a:pPr>
              <a:spcAft>
                <a:spcPts val="600"/>
              </a:spcAft>
              <a:defRPr sz="1300">
                <a:solidFill>
                  <a:srgbClr val="64748B"/>
                </a:solidFill>
              </a:defRPr>
            </a:pPr>
            <a:r>
              <a:t>• Transparent Rule-Based Heuristic (clearly disclosed without false ML claims).</a:t>
            </a:r>
          </a:p>
          <a:p>
            <a:pPr>
              <a:spcAft>
                <a:spcPts val="600"/>
              </a:spcAft>
              <a:defRPr sz="1300">
                <a:solidFill>
                  <a:srgbClr val="64748B"/>
                </a:solidFill>
              </a:defRPr>
            </a:pPr>
            <a:r>
              <a:t>• Topic Deficiency Categorization:</a:t>
            </a:r>
            <a:br/>
            <a:r>
              <a:t>  - Score &lt; 60%: Critical Review (Red Badge)</a:t>
            </a:r>
            <a:br/>
            <a:r>
              <a:t>  - Score 60-74%: Practice Recommended (Yellow)</a:t>
            </a:r>
            <a:br/>
            <a:r>
              <a:t>  - Score ≥ 75%: Mastered (Green Badge)</a:t>
            </a:r>
          </a:p>
          <a:p>
            <a:pPr>
              <a:spcAft>
                <a:spcPts val="600"/>
              </a:spcAft>
              <a:defRPr sz="1300">
                <a:solidFill>
                  <a:srgbClr val="64748B"/>
                </a:solidFill>
              </a:defRPr>
            </a:pPr>
            <a:r>
              <a:t>• Contextual Action Items: Prescribes retry quizzes, deep-dive AI tutor prompts, and direct links to matching uploaded notes.</a:t>
            </a:r>
          </a:p>
          <a:p>
            <a:pPr>
              <a:spcAft>
                <a:spcPts val="600"/>
              </a:spcAft>
              <a:defRPr sz="1300">
                <a:solidFill>
                  <a:srgbClr val="64748B"/>
                </a:solidFill>
              </a:defRPr>
            </a:pPr>
            <a:r>
              <a:t>• Extensible Architecture: Ready for collaborative filtering ML once student interaction logs expand.</a:t>
            </a:r>
          </a:p>
        </p:txBody>
      </p:sp>
      <p:sp>
        <p:nvSpPr>
          <p:cNvPr id="6" name="Rounded Rectangle 5"/>
          <p:cNvSpPr/>
          <p:nvPr/>
        </p:nvSpPr>
        <p:spPr>
          <a:xfrm>
            <a:off x="6217920"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0" y="1828800"/>
            <a:ext cx="4754880" cy="4023360"/>
          </a:xfrm>
          <a:prstGeom prst="rect">
            <a:avLst/>
          </a:prstGeom>
          <a:noFill/>
        </p:spPr>
        <p:txBody>
          <a:bodyPr wrap="square">
            <a:spAutoFit/>
          </a:bodyPr>
          <a:lstStyle/>
          <a:p>
            <a:pPr>
              <a:spcAft>
                <a:spcPts val="1000"/>
              </a:spcAft>
              <a:defRPr sz="1600" b="1">
                <a:solidFill>
                  <a:srgbClr val="0F172A"/>
                </a:solidFill>
              </a:defRPr>
            </a:pPr>
            <a:r>
              <a:t>Module 7: Student Analytics Dashboard</a:t>
            </a:r>
          </a:p>
          <a:p>
            <a:pPr>
              <a:spcAft>
                <a:spcPts val="600"/>
              </a:spcAft>
              <a:defRPr sz="1300">
                <a:solidFill>
                  <a:srgbClr val="64748B"/>
                </a:solidFill>
              </a:defRPr>
            </a:pPr>
            <a:r>
              <a:t>• Telemetry Summary Cards: Total quizzes taken, average score, uploaded notes count, latest predicted GPA.</a:t>
            </a:r>
          </a:p>
          <a:p>
            <a:pPr>
              <a:spcAft>
                <a:spcPts val="600"/>
              </a:spcAft>
              <a:defRPr sz="1300">
                <a:solidFill>
                  <a:srgbClr val="64748B"/>
                </a:solidFill>
              </a:defRPr>
            </a:pPr>
            <a:r>
              <a:t>• Chart.js Topic Mastery Bar Chart: Compares student scores across attempted curriculum topics.</a:t>
            </a:r>
          </a:p>
          <a:p>
            <a:pPr>
              <a:spcAft>
                <a:spcPts val="600"/>
              </a:spcAft>
              <a:defRPr sz="1300">
                <a:solidFill>
                  <a:srgbClr val="64748B"/>
                </a:solidFill>
              </a:defRPr>
            </a:pPr>
            <a:r>
              <a:t>• Chart.js Progress Line Chart: Tracks student score trajectory over time to visualize learning velocity.</a:t>
            </a:r>
          </a:p>
          <a:p>
            <a:pPr>
              <a:spcAft>
                <a:spcPts val="600"/>
              </a:spcAft>
              <a:defRPr sz="1300">
                <a:solidFill>
                  <a:srgbClr val="64748B"/>
                </a:solidFill>
              </a:defRPr>
            </a:pPr>
            <a:r>
              <a:t>• Recent Quiz Results Feed with quick breakdown links.</a:t>
            </a:r>
          </a:p>
          <a:p>
            <a:pPr>
              <a:spcAft>
                <a:spcPts val="600"/>
              </a:spcAft>
              <a:defRPr sz="1300">
                <a:solidFill>
                  <a:srgbClr val="64748B"/>
                </a:solidFill>
              </a:defRPr>
            </a:pPr>
            <a:r>
              <a:t>• Quick action shortcuts for chatbot, PDF uploads, and grade forecasting.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7315200" cy="320040"/>
          </a:xfrm>
          <a:prstGeom prst="rect">
            <a:avLst/>
          </a:prstGeom>
          <a:noFill/>
        </p:spPr>
        <p:txBody>
          <a:bodyPr wrap="square">
            <a:spAutoFit/>
          </a:bodyPr>
          <a:lstStyle/>
          <a:p>
            <a:pPr>
              <a:defRPr sz="1100" b="1">
                <a:solidFill>
                  <a:srgbClr val="0D6EFD"/>
                </a:solidFill>
              </a:defRPr>
            </a:pPr>
            <a:r>
              <a:t>CONCLUSION</a:t>
            </a:r>
          </a:p>
        </p:txBody>
      </p:sp>
      <p:sp>
        <p:nvSpPr>
          <p:cNvPr id="3" name="TextBox 2"/>
          <p:cNvSpPr txBox="1"/>
          <p:nvPr/>
        </p:nvSpPr>
        <p:spPr>
          <a:xfrm>
            <a:off x="731520" y="685800"/>
            <a:ext cx="10698480" cy="731520"/>
          </a:xfrm>
          <a:prstGeom prst="rect">
            <a:avLst/>
          </a:prstGeom>
          <a:noFill/>
        </p:spPr>
        <p:txBody>
          <a:bodyPr wrap="square">
            <a:spAutoFit/>
          </a:bodyPr>
          <a:lstStyle/>
          <a:p>
            <a:pPr>
              <a:defRPr sz="2400" b="1">
                <a:solidFill>
                  <a:srgbClr val="0F172A"/>
                </a:solidFill>
              </a:defRPr>
            </a:pPr>
            <a:r>
              <a:t>Technical Validation, Future Scope &amp; Conclusion</a:t>
            </a:r>
          </a:p>
        </p:txBody>
      </p:sp>
      <p:sp>
        <p:nvSpPr>
          <p:cNvPr id="4" name="Rounded Rectangle 3"/>
          <p:cNvSpPr/>
          <p:nvPr/>
        </p:nvSpPr>
        <p:spPr>
          <a:xfrm>
            <a:off x="731520"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4754880" cy="4023360"/>
          </a:xfrm>
          <a:prstGeom prst="rect">
            <a:avLst/>
          </a:prstGeom>
          <a:noFill/>
        </p:spPr>
        <p:txBody>
          <a:bodyPr wrap="square">
            <a:spAutoFit/>
          </a:bodyPr>
          <a:lstStyle/>
          <a:p>
            <a:pPr>
              <a:spcAft>
                <a:spcPts val="1000"/>
              </a:spcAft>
              <a:defRPr sz="1600" b="1">
                <a:solidFill>
                  <a:srgbClr val="0F172A"/>
                </a:solidFill>
              </a:defRPr>
            </a:pPr>
            <a:r>
              <a:t>Technical Validation &amp; Quality Assurance</a:t>
            </a:r>
          </a:p>
          <a:p>
            <a:pPr>
              <a:spcAft>
                <a:spcPts val="600"/>
              </a:spcAft>
              <a:defRPr sz="1300">
                <a:solidFill>
                  <a:srgbClr val="64748B"/>
                </a:solidFill>
              </a:defRPr>
            </a:pPr>
            <a:r>
              <a:t>• 100% Automated Test Pass Rate (14/14 tests in Pytest):</a:t>
            </a:r>
          </a:p>
          <a:p>
            <a:pPr>
              <a:spcAft>
                <a:spcPts val="600"/>
              </a:spcAft>
              <a:defRPr sz="1300">
                <a:solidFill>
                  <a:srgbClr val="64748B"/>
                </a:solidFill>
              </a:defRPr>
            </a:pPr>
            <a:r>
              <a:t>•   ✓ test_auth.py: Registration, PBKDF2 hashing, duplicate checks.</a:t>
            </a:r>
          </a:p>
          <a:p>
            <a:pPr>
              <a:spcAft>
                <a:spcPts val="600"/>
              </a:spcAft>
              <a:defRPr sz="1300">
                <a:solidFill>
                  <a:srgbClr val="64748B"/>
                </a:solidFill>
              </a:defRPr>
            </a:pPr>
            <a:r>
              <a:t>•   ✓ test_ml_predict.py: Bounds validation, Joblib pipeline integrity.</a:t>
            </a:r>
          </a:p>
          <a:p>
            <a:pPr>
              <a:spcAft>
                <a:spcPts val="600"/>
              </a:spcAft>
              <a:defRPr sz="1300">
                <a:solidFill>
                  <a:srgbClr val="64748B"/>
                </a:solidFill>
              </a:defRPr>
            </a:pPr>
            <a:r>
              <a:t>•   ✓ test_quiz.py: 4-choice schema, hidden answers, auto-scoring.</a:t>
            </a:r>
          </a:p>
          <a:p>
            <a:pPr>
              <a:spcAft>
                <a:spcPts val="600"/>
              </a:spcAft>
              <a:defRPr sz="1300">
                <a:solidFill>
                  <a:srgbClr val="64748B"/>
                </a:solidFill>
              </a:defRPr>
            </a:pPr>
            <a:r>
              <a:t>•   ✓ test_rag.py: PyMuPDF extraction, sliding chunking, cosine retrieval.</a:t>
            </a:r>
          </a:p>
          <a:p>
            <a:pPr>
              <a:spcAft>
                <a:spcPts val="600"/>
              </a:spcAft>
              <a:defRPr sz="1300">
                <a:solidFill>
                  <a:srgbClr val="64748B"/>
                </a:solidFill>
              </a:defRPr>
            </a:pPr>
            <a:r>
              <a:t>• Strict input validation and boundary protections across all REST APIs.</a:t>
            </a:r>
          </a:p>
          <a:p>
            <a:pPr>
              <a:spcAft>
                <a:spcPts val="600"/>
              </a:spcAft>
              <a:defRPr sz="1300">
                <a:solidFill>
                  <a:srgbClr val="64748B"/>
                </a:solidFill>
              </a:defRPr>
            </a:pPr>
            <a:r>
              <a:t>• Zero external cloud API costs or data leakage risks.</a:t>
            </a:r>
          </a:p>
        </p:txBody>
      </p:sp>
      <p:sp>
        <p:nvSpPr>
          <p:cNvPr id="6" name="Rounded Rectangle 5"/>
          <p:cNvSpPr/>
          <p:nvPr/>
        </p:nvSpPr>
        <p:spPr>
          <a:xfrm>
            <a:off x="6217920" y="164592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0" y="1828800"/>
            <a:ext cx="4754880" cy="4023360"/>
          </a:xfrm>
          <a:prstGeom prst="rect">
            <a:avLst/>
          </a:prstGeom>
          <a:noFill/>
        </p:spPr>
        <p:txBody>
          <a:bodyPr wrap="square">
            <a:spAutoFit/>
          </a:bodyPr>
          <a:lstStyle/>
          <a:p>
            <a:pPr>
              <a:spcAft>
                <a:spcPts val="1000"/>
              </a:spcAft>
              <a:defRPr sz="1600" b="1">
                <a:solidFill>
                  <a:srgbClr val="0F172A"/>
                </a:solidFill>
              </a:defRPr>
            </a:pPr>
            <a:r>
              <a:t>Future Scope &amp; Conclusion</a:t>
            </a:r>
          </a:p>
          <a:p>
            <a:pPr>
              <a:spcAft>
                <a:spcPts val="600"/>
              </a:spcAft>
              <a:defRPr sz="1300">
                <a:solidFill>
                  <a:srgbClr val="64748B"/>
                </a:solidFill>
              </a:defRPr>
            </a:pPr>
            <a:r>
              <a:t>• Future Enhancements:</a:t>
            </a:r>
          </a:p>
          <a:p>
            <a:pPr>
              <a:spcAft>
                <a:spcPts val="600"/>
              </a:spcAft>
              <a:defRPr sz="1300">
                <a:solidFill>
                  <a:srgbClr val="64748B"/>
                </a:solidFill>
              </a:defRPr>
            </a:pPr>
            <a:r>
              <a:t>•   • Multi-modal diagram understanding from textbook figures.</a:t>
            </a:r>
          </a:p>
          <a:p>
            <a:pPr>
              <a:spcAft>
                <a:spcPts val="600"/>
              </a:spcAft>
              <a:defRPr sz="1300">
                <a:solidFill>
                  <a:srgbClr val="64748B"/>
                </a:solidFill>
              </a:defRPr>
            </a:pPr>
            <a:r>
              <a:t>•   • Audio lecture transcription via local Whisper models.</a:t>
            </a:r>
          </a:p>
          <a:p>
            <a:pPr>
              <a:spcAft>
                <a:spcPts val="600"/>
              </a:spcAft>
              <a:defRPr sz="1300">
                <a:solidFill>
                  <a:srgbClr val="64748B"/>
                </a:solidFill>
              </a:defRPr>
            </a:pPr>
            <a:r>
              <a:t>•   • Trained collaborative filtering recommendation models.</a:t>
            </a:r>
          </a:p>
          <a:p>
            <a:pPr>
              <a:spcAft>
                <a:spcPts val="600"/>
              </a:spcAft>
              <a:defRPr sz="1300">
                <a:solidFill>
                  <a:srgbClr val="64748B"/>
                </a:solidFill>
              </a:defRPr>
            </a:pPr>
            <a:r>
              <a:t>• Conclusion:</a:t>
            </a:r>
          </a:p>
          <a:p>
            <a:pPr>
              <a:spcAft>
                <a:spcPts val="600"/>
              </a:spcAft>
              <a:defRPr sz="1300">
                <a:solidFill>
                  <a:srgbClr val="64748B"/>
                </a:solidFill>
              </a:defRPr>
            </a:pPr>
            <a:r>
              <a:t>•   StudyBuddy demonstrates that genuine Artificial Intelligence and Machine Learning can be integrated into an accessible, privacy-first college study platform.</a:t>
            </a:r>
          </a:p>
          <a:p>
            <a:pPr>
              <a:spcAft>
                <a:spcPts val="600"/>
              </a:spcAft>
              <a:defRPr sz="1300">
                <a:solidFill>
                  <a:srgbClr val="64748B"/>
                </a:solidFill>
              </a:defRPr>
            </a:pPr>
            <a:r>
              <a:t>• Thank you!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1885</Words>
  <Application>Microsoft Office PowerPoint</Application>
  <PresentationFormat>Widescreen</PresentationFormat>
  <Paragraphs>163</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GOWTHAM.A</dc:creator>
  <cp:keywords/>
  <dc:description>generated using python-pptx</dc:description>
  <cp:lastModifiedBy>GOWTHAM A</cp:lastModifiedBy>
  <cp:revision>2</cp:revision>
  <dcterms:created xsi:type="dcterms:W3CDTF">2013-01-27T09:14:16Z</dcterms:created>
  <dcterms:modified xsi:type="dcterms:W3CDTF">2026-10-14T16:03:23Z</dcterms:modified>
  <cp:category/>
</cp:coreProperties>
</file>